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Inter Medium" charset="0"/>
      <p:regular r:id="rId11"/>
    </p:embeddedFont>
    <p:embeddedFont>
      <p:font typeface="Calibri" pitchFamily="34" charset="0"/>
      <p:regular r:id="rId12"/>
      <p:bold r:id="rId13"/>
      <p:italic r:id="rId14"/>
      <p:boldItalic r:id="rId15"/>
    </p:embeddedFont>
    <p:embeddedFont>
      <p:font typeface="Space Grotesk Bold" charset="0"/>
      <p:regular r:id="rId16"/>
    </p:embeddedFont>
    <p:embeddedFont>
      <p:font typeface="Inter" charset="0"/>
      <p:regular r:id="rId17"/>
    </p:embeddedFont>
    <p:embeddedFont>
      <p:font typeface="Space Grotesk SemiBold" charset="0"/>
      <p:regular r:id="rId18"/>
    </p:embeddedFont>
    <p:embeddedFont>
      <p:font typeface="Inter SemiBold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-63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leadership question first: the customer base already shows loyalty. The growth opportunity is converting that loyalty into recurring value through subscription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baseline. The dataset is broad across age, but the purchase amount and review rating are consistent enough to support focused growth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Clothing leads the category pool, and male customers contribute more total revenue in this dataset. These are the clearest concentration signals for prioritizing campaigns.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loyal segment dominates the base. The leadership question is therefore deeper engagement, especially moving returning buyers toward a more durable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Subscription adoption is the gap, but current subscribers have not yet changed average spend. Treat the 27.0% versus 7.3% discrepancy as a dashboard-definition issue to resolve before external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Discounting is not automatically a margin problem in this dataset. The signal is to review economics by product before scaling, while recognizing that discounted customers still exceeded the average purchase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products with the strongest ratings as campaign anchors, then tailor the offer by age group. The revenue signal is distributed, with Young Adult highest in this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operating plan. Start from repeat purchase moments, move returning buyers toward deeper loyalty, anchor campaigns in top-rated products, protect discount economics, and test targeted messaging where the revenue signals are strongest.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B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3">
              <a:alpha val="7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B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922020"/>
            <a:ext cx="837544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SHOPPING BEHAVIOR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283891"/>
            <a:ext cx="776585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10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Customer loyalty is strong;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b="1" kern="100" spc="-108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subscription adoption is the gap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5156" y="5989241"/>
            <a:ext cx="776585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can the business convert an already-loyal customer base into higher recurring value?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386" y="617022"/>
            <a:ext cx="1158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BASELINE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386" y="916831"/>
            <a:ext cx="10972724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3,900 purchases reveal a broad but consistent customer 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386" y="3794820"/>
            <a:ext cx="10972724" cy="852785"/>
          </a:xfrm>
          <a:prstGeom prst="roundRect">
            <a:avLst>
              <a:gd name="adj" fmla="val 3797"/>
            </a:avLst>
          </a:prstGeom>
          <a:solidFill>
            <a:srgbClr val="5E7609"/>
          </a:solidFill>
          <a:ln/>
        </p:spPr>
      </p:sp>
      <p:sp>
        <p:nvSpPr>
          <p:cNvPr id="5" name="Text 3"/>
          <p:cNvSpPr/>
          <p:nvPr/>
        </p:nvSpPr>
        <p:spPr>
          <a:xfrm>
            <a:off x="825281" y="4067393"/>
            <a:ext cx="11150519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ratings had 37 missing values, imputed by product-category median.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386" y="2018903"/>
            <a:ext cx="2647884" cy="1547416"/>
          </a:xfrm>
          <a:prstGeom prst="roundRect">
            <a:avLst>
              <a:gd name="adj" fmla="val 2093"/>
            </a:avLst>
          </a:prstGeom>
          <a:solidFill>
            <a:srgbClr val="3A3D41"/>
          </a:solidFill>
          <a:ln/>
        </p:spPr>
      </p:sp>
      <p:sp>
        <p:nvSpPr>
          <p:cNvPr id="7" name="Text 5"/>
          <p:cNvSpPr/>
          <p:nvPr/>
        </p:nvSpPr>
        <p:spPr>
          <a:xfrm>
            <a:off x="812581" y="2287191"/>
            <a:ext cx="2241593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12" dirty="0">
                <a:solidFill>
                  <a:srgbClr val="F4F6F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$59.76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12581" y="3152477"/>
            <a:ext cx="28511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purchase amount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4068" y="2018903"/>
            <a:ext cx="2648082" cy="1547416"/>
          </a:xfrm>
          <a:prstGeom prst="roundRect">
            <a:avLst>
              <a:gd name="adj" fmla="val 2093"/>
            </a:avLst>
          </a:prstGeom>
          <a:solidFill>
            <a:srgbClr val="3A3D41"/>
          </a:solidFill>
          <a:ln/>
        </p:spPr>
      </p:sp>
      <p:sp>
        <p:nvSpPr>
          <p:cNvPr id="10" name="Text 8"/>
          <p:cNvSpPr/>
          <p:nvPr/>
        </p:nvSpPr>
        <p:spPr>
          <a:xfrm>
            <a:off x="3587263" y="2287191"/>
            <a:ext cx="2241792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12" dirty="0">
                <a:solidFill>
                  <a:srgbClr val="F4F6F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3.75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587263" y="3152477"/>
            <a:ext cx="285137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review rating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59147" y="2018903"/>
            <a:ext cx="2648082" cy="1547416"/>
          </a:xfrm>
          <a:prstGeom prst="roundRect">
            <a:avLst>
              <a:gd name="adj" fmla="val 2093"/>
            </a:avLst>
          </a:prstGeom>
          <a:solidFill>
            <a:srgbClr val="3A3D41"/>
          </a:solidFill>
          <a:ln/>
        </p:spPr>
      </p:sp>
      <p:sp>
        <p:nvSpPr>
          <p:cNvPr id="13" name="Text 11"/>
          <p:cNvSpPr/>
          <p:nvPr/>
        </p:nvSpPr>
        <p:spPr>
          <a:xfrm>
            <a:off x="6362342" y="2287191"/>
            <a:ext cx="2241792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12" dirty="0">
                <a:solidFill>
                  <a:srgbClr val="F4F6F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44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362342" y="3152477"/>
            <a:ext cx="285137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 customer age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34028" y="2018903"/>
            <a:ext cx="2648082" cy="1547416"/>
          </a:xfrm>
          <a:prstGeom prst="roundRect">
            <a:avLst>
              <a:gd name="adj" fmla="val 2093"/>
            </a:avLst>
          </a:prstGeom>
          <a:solidFill>
            <a:srgbClr val="3A3D41"/>
          </a:solidFill>
          <a:ln/>
        </p:spPr>
      </p:sp>
      <p:sp>
        <p:nvSpPr>
          <p:cNvPr id="16" name="Text 14"/>
          <p:cNvSpPr/>
          <p:nvPr/>
        </p:nvSpPr>
        <p:spPr>
          <a:xfrm>
            <a:off x="9137124" y="2287191"/>
            <a:ext cx="2241792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12" dirty="0">
                <a:solidFill>
                  <a:srgbClr val="F4F6F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18–70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9137124" y="3152477"/>
            <a:ext cx="285137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age span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197746" y="6451898"/>
            <a:ext cx="794028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386" y="617022"/>
            <a:ext cx="1158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REVENUE MIX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386" y="916831"/>
            <a:ext cx="10972724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Revenue is concentrated in clothing and male customers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86" y="2342257"/>
            <a:ext cx="6659892" cy="3619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169" y="2362696"/>
            <a:ext cx="1263321" cy="336649"/>
          </a:xfrm>
          <a:prstGeom prst="roundRect">
            <a:avLst>
              <a:gd name="adj" fmla="val 7696"/>
            </a:avLst>
          </a:prstGeom>
          <a:solidFill>
            <a:srgbClr val="384705"/>
          </a:solidFill>
          <a:ln/>
        </p:spPr>
      </p:sp>
      <p:sp>
        <p:nvSpPr>
          <p:cNvPr id="6" name="Text 3"/>
          <p:cNvSpPr/>
          <p:nvPr/>
        </p:nvSpPr>
        <p:spPr>
          <a:xfrm>
            <a:off x="7855646" y="2442246"/>
            <a:ext cx="161395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82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READ-OUT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26169" y="2791143"/>
            <a:ext cx="3855941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 is the largest revenue pool.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26169" y="3765669"/>
            <a:ext cx="3855941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generated $157,890 versus $75,191 from female customers.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26169" y="4908947"/>
            <a:ext cx="3855941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and gender segments are shown together for directional comparison.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196655" y="6451898"/>
            <a:ext cx="795218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386" y="617022"/>
            <a:ext cx="1158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CUSTOMER SEGMENTS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386" y="916831"/>
            <a:ext cx="10972724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The customer base is already mostly loyal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86" y="2194719"/>
            <a:ext cx="5079873" cy="381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75638" y="5065911"/>
            <a:ext cx="4206472" cy="536575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priority is not only acquisition; it is moving repeat buyers into deeper engagement.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375638" y="2205732"/>
            <a:ext cx="4206472" cy="1496516"/>
          </a:xfrm>
          <a:prstGeom prst="roundRect">
            <a:avLst>
              <a:gd name="adj" fmla="val 2164"/>
            </a:avLst>
          </a:prstGeom>
          <a:solidFill>
            <a:srgbClr val="C8F03C"/>
          </a:solidFill>
          <a:ln/>
        </p:spPr>
      </p:sp>
      <p:sp>
        <p:nvSpPr>
          <p:cNvPr id="7" name="Text 4"/>
          <p:cNvSpPr/>
          <p:nvPr/>
        </p:nvSpPr>
        <p:spPr>
          <a:xfrm>
            <a:off x="7578734" y="2448421"/>
            <a:ext cx="3800181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12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3,116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7578734" y="3313807"/>
            <a:ext cx="44097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 customers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75638" y="3829149"/>
            <a:ext cx="4206472" cy="1029891"/>
          </a:xfrm>
          <a:prstGeom prst="roundRect">
            <a:avLst>
              <a:gd name="adj" fmla="val 3144"/>
            </a:avLst>
          </a:prstGeom>
          <a:solidFill>
            <a:srgbClr val="3A3D41"/>
          </a:solidFill>
          <a:ln/>
        </p:spPr>
      </p:sp>
      <p:sp>
        <p:nvSpPr>
          <p:cNvPr id="10" name="Text 7"/>
          <p:cNvSpPr/>
          <p:nvPr/>
        </p:nvSpPr>
        <p:spPr>
          <a:xfrm>
            <a:off x="7578734" y="4039015"/>
            <a:ext cx="38001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48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701 returning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578734" y="4470598"/>
            <a:ext cx="44097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 new customers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802370" y="6350595"/>
            <a:ext cx="189404" cy="405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386" y="617022"/>
            <a:ext cx="1158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SUBSCRIPTION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386" y="916831"/>
            <a:ext cx="10972724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Subscriptions have not changed spend yet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609386" y="3798292"/>
          <a:ext cx="10972724" cy="1482390"/>
        </p:xfrm>
        <a:graphic>
          <a:graphicData uri="http://schemas.openxmlformats.org/drawingml/2006/table">
            <a:tbl>
              <a:tblPr/>
              <a:tblGrid>
                <a:gridCol w="3730631"/>
                <a:gridCol w="3620997"/>
                <a:gridCol w="3621096"/>
              </a:tblGrid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Measure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Subscriber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Non-subscriber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Average spend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$59.49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$59.87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6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share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27.0%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73.0%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2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1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386" y="5557242"/>
            <a:ext cx="10972724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report also shows 7.3% versus 92.7% in one subscription visualization. Validate the dashboard definition before external use.</a:t>
            </a:r>
            <a:endParaRPr lang="en-US" sz="1250" dirty="0"/>
          </a:p>
        </p:txBody>
      </p:sp>
      <p:sp>
        <p:nvSpPr>
          <p:cNvPr id="4" name="Shape 3"/>
          <p:cNvSpPr/>
          <p:nvPr/>
        </p:nvSpPr>
        <p:spPr>
          <a:xfrm>
            <a:off x="609386" y="1563787"/>
            <a:ext cx="5422764" cy="2005905"/>
          </a:xfrm>
          <a:prstGeom prst="roundRect">
            <a:avLst>
              <a:gd name="adj" fmla="val 1614"/>
            </a:avLst>
          </a:prstGeom>
          <a:solidFill>
            <a:srgbClr val="C8F03C"/>
          </a:solidFill>
          <a:ln/>
        </p:spPr>
      </p:sp>
      <p:sp>
        <p:nvSpPr>
          <p:cNvPr id="7" name="Text 4"/>
          <p:cNvSpPr/>
          <p:nvPr/>
        </p:nvSpPr>
        <p:spPr>
          <a:xfrm>
            <a:off x="837881" y="1795859"/>
            <a:ext cx="55754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· 1,053 customers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7881" y="2265362"/>
            <a:ext cx="4965873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12" dirty="0">
                <a:solidFill>
                  <a:srgbClr val="0000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$59.49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837881" y="3130649"/>
            <a:ext cx="55754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$62,645 total revenue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59147" y="1563787"/>
            <a:ext cx="5422963" cy="2005905"/>
          </a:xfrm>
          <a:prstGeom prst="roundRect">
            <a:avLst>
              <a:gd name="adj" fmla="val 1614"/>
            </a:avLst>
          </a:prstGeom>
          <a:solidFill>
            <a:srgbClr val="3A3D41"/>
          </a:solidFill>
          <a:ln/>
        </p:spPr>
      </p:sp>
      <p:sp>
        <p:nvSpPr>
          <p:cNvPr id="11" name="Text 8"/>
          <p:cNvSpPr/>
          <p:nvPr/>
        </p:nvSpPr>
        <p:spPr>
          <a:xfrm>
            <a:off x="6387543" y="1795859"/>
            <a:ext cx="55757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 · 2,847 customers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87543" y="2265362"/>
            <a:ext cx="4966171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12" dirty="0">
                <a:solidFill>
                  <a:srgbClr val="F4F6F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$59.87</a:t>
            </a:r>
            <a:endParaRPr lang="en-US" sz="5600" dirty="0"/>
          </a:p>
        </p:txBody>
      </p:sp>
      <p:sp>
        <p:nvSpPr>
          <p:cNvPr id="13" name="Text 10"/>
          <p:cNvSpPr/>
          <p:nvPr/>
        </p:nvSpPr>
        <p:spPr>
          <a:xfrm>
            <a:off x="6387543" y="3130649"/>
            <a:ext cx="55757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$170,436 total revenue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200028" y="6451898"/>
            <a:ext cx="79174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386" y="617022"/>
            <a:ext cx="1158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PROMOTION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386" y="916831"/>
            <a:ext cx="10972724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Discounts can drive volume without lowering basket size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86" y="2290167"/>
            <a:ext cx="6603835" cy="3619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6169" y="2562324"/>
            <a:ext cx="3855941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12" dirty="0">
                <a:solidFill>
                  <a:srgbClr val="F4F6F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839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7726169" y="3427809"/>
            <a:ext cx="38559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used discounts and still spent above the average purchase amount.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26169" y="4033738"/>
            <a:ext cx="1272449" cy="38100"/>
          </a:xfrm>
          <a:prstGeom prst="roundRect">
            <a:avLst>
              <a:gd name="adj" fmla="val 49999"/>
            </a:avLst>
          </a:prstGeom>
          <a:solidFill>
            <a:srgbClr val="C8F03C"/>
          </a:solidFill>
          <a:ln/>
        </p:spPr>
      </p:sp>
      <p:sp>
        <p:nvSpPr>
          <p:cNvPr id="8" name="Text 5"/>
          <p:cNvSpPr/>
          <p:nvPr/>
        </p:nvSpPr>
        <p:spPr>
          <a:xfrm>
            <a:off x="7726169" y="4325858"/>
            <a:ext cx="385594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$60.48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726169" y="4889698"/>
            <a:ext cx="38559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Express-shipping average versus $58.46 for Standard.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806041" y="6350595"/>
            <a:ext cx="185832" cy="405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386" y="617022"/>
            <a:ext cx="1158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CAMPAIGN TARGETING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386" y="916831"/>
            <a:ext cx="10972724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Product and age signals point to focused campaigns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386" y="5921970"/>
            <a:ext cx="10972724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campaigns with top-rated products and tailor offers by age group.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9386" y="1978442"/>
            <a:ext cx="541026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Top-rated products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86" y="2703909"/>
            <a:ext cx="4952876" cy="2730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1649" y="1978442"/>
            <a:ext cx="541036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24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age group</a:t>
            </a:r>
            <a:endParaRPr lang="en-US" sz="2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649" y="2703909"/>
            <a:ext cx="4952876" cy="273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206676" y="6451898"/>
            <a:ext cx="785198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386" y="617022"/>
            <a:ext cx="792470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NEXT MOVE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386" y="916831"/>
            <a:ext cx="731511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200" kern="100" spc="-32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Turn loyalty into recurring value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386" y="1563787"/>
            <a:ext cx="7315116" cy="2094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 subscription benefits around repeat purchase moments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returning buyers and move them toward the Loyal segment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top-rated products as subscription or campaign anchors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discount economics by product before scaling promotions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targeted messaging for high-revenue age groups and express-shipping users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988" y="0"/>
            <a:ext cx="3657608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9722" y="6451898"/>
            <a:ext cx="79541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kern="100" spc="44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Microsoft Office PowerPoint</Application>
  <PresentationFormat>Custom</PresentationFormat>
  <Paragraphs>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Inter Medium</vt:lpstr>
      <vt:lpstr>Calibri</vt:lpstr>
      <vt:lpstr>Space Grotesk Bold</vt:lpstr>
      <vt:lpstr>Inter</vt:lpstr>
      <vt:lpstr>Space Grotesk SemiBold</vt:lpstr>
      <vt:lpstr>Inter SemiBold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Thanu D L</dc:creator>
  <cp:lastModifiedBy>Thanu D L</cp:lastModifiedBy>
  <cp:revision>1</cp:revision>
  <dcterms:created xsi:type="dcterms:W3CDTF">2026-10-19T15:19:42Z</dcterms:created>
  <dcterms:modified xsi:type="dcterms:W3CDTF">2026-10-19T15:21:07Z</dcterms:modified>
</cp:coreProperties>
</file>